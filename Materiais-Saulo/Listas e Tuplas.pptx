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3" r:id="rId2"/>
    <p:sldId id="256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3" r:id="rId14"/>
    <p:sldId id="291" r:id="rId15"/>
    <p:sldId id="292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280" r:id="rId3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8498" y="2897944"/>
            <a:ext cx="11380764" cy="1170576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06880" y="4130998"/>
            <a:ext cx="9144000" cy="73081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05/10/2026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0897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24449"/>
            <a:ext cx="12023188" cy="858764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7694" y="1291053"/>
            <a:ext cx="11705493" cy="4351338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05/10/2026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7001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13984"/>
            <a:ext cx="10515600" cy="3467173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3981157"/>
            <a:ext cx="10515600" cy="91273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05/10/2026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321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54111"/>
            <a:ext cx="12192000" cy="830628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05/10/2026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7924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05/10/2026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467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54110"/>
            <a:ext cx="12192000" cy="985373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05/10/2026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35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05/10/2026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1571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05/10/2026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2202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05/10/2026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4596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05/10/2026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5285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05/10/2026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9329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154111"/>
            <a:ext cx="12192000" cy="10416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75490" y="1310861"/>
            <a:ext cx="115835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2BF85-54FF-46CE-B398-87F998CFD60B}" type="datetimeFigureOut">
              <a:rPr lang="pt-BR" smtClean="0"/>
              <a:pPr/>
              <a:t>05/10/2026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6288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405618" y="2615112"/>
            <a:ext cx="11380764" cy="117057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3600" dirty="0">
                <a:solidFill>
                  <a:srgbClr val="0070C0"/>
                </a:solidFill>
                <a:latin typeface="Verdana" panose="020B0604030504040204" pitchFamily="34" charset="0"/>
              </a:rPr>
              <a:t>Design de Software II</a:t>
            </a:r>
            <a:endParaRPr lang="pt-BR" sz="3600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1303606" y="4528638"/>
            <a:ext cx="9584788" cy="1170575"/>
          </a:xfrm>
        </p:spPr>
        <p:txBody>
          <a:bodyPr>
            <a:noAutofit/>
          </a:bodyPr>
          <a:lstStyle/>
          <a:p>
            <a:pPr lvl="0" algn="l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</a:pPr>
            <a:r>
              <a:rPr lang="pt-BR" b="1" cap="all" spc="200" dirty="0">
                <a:solidFill>
                  <a:srgbClr val="637052"/>
                </a:solidFill>
                <a:latin typeface="Calibri Light" panose="020F0302020204030204"/>
                <a:cs typeface="+mn-cs"/>
              </a:rPr>
              <a:t>Prof. Saulo r. Benatti</a:t>
            </a:r>
          </a:p>
        </p:txBody>
      </p:sp>
    </p:spTree>
    <p:extLst>
      <p:ext uri="{BB962C8B-B14F-4D97-AF65-F5344CB8AC3E}">
        <p14:creationId xmlns:p14="http://schemas.microsoft.com/office/powerpoint/2010/main" val="2569797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Listas e Tuplas</a:t>
            </a:r>
            <a:endParaRPr lang="pt-BR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16BBF59-F166-2AB5-0631-874DE40A49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Aula 2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27448-02A6-7E30-B2A5-AF0CE0280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4A9381-B982-2BEF-36DF-083DB48F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Hoje, vamos aprender sobre listas e tuplas, o que são essas coleções de elementos e como podemos aplicá-las em nossos projetos em Python.</a:t>
            </a:r>
          </a:p>
          <a:p>
            <a:r>
              <a:rPr lang="pt-BR" dirty="0"/>
              <a:t>Vamos começar entendendo o que são as listas.</a:t>
            </a:r>
          </a:p>
          <a:p>
            <a:r>
              <a:rPr lang="pt-BR" dirty="0"/>
              <a:t>As listas são coleções de elementos mutáveis. Isso significa que podemos ter uma série de itens que podem ser alterados após a criação dessa lista. Sua sintaxe é representada por colchetes.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3628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49B67-A77C-3098-0DD7-6D6B4CA19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8FCE48-580F-1035-68FB-8CA1A0071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lista = [1, 2, 3]</a:t>
            </a:r>
          </a:p>
          <a:p>
            <a:endParaRPr lang="pt-BR" dirty="0"/>
          </a:p>
          <a:p>
            <a:r>
              <a:rPr lang="pt-BR" dirty="0" err="1"/>
              <a:t>lista_mista</a:t>
            </a:r>
            <a:r>
              <a:rPr lang="pt-BR" dirty="0"/>
              <a:t> = [1, "texto", 3.14, </a:t>
            </a:r>
            <a:r>
              <a:rPr lang="pt-BR" dirty="0" err="1"/>
              <a:t>True</a:t>
            </a:r>
            <a:r>
              <a:rPr lang="pt-BR" dirty="0"/>
              <a:t>, [1, 2, 3]]</a:t>
            </a:r>
          </a:p>
          <a:p>
            <a:endParaRPr lang="pt-BR" dirty="0"/>
          </a:p>
          <a:p>
            <a:r>
              <a:rPr lang="pt-BR" dirty="0"/>
              <a:t>Teremos os elementos de uma lista entre colchetes e separados por vírgula. Um detalhe sobre as listas é que elas são flexíveis, ou seja, podem conter qualquer tipo de dados nos seus elementos.</a:t>
            </a:r>
          </a:p>
          <a:p>
            <a:r>
              <a:rPr lang="pt-BR" dirty="0"/>
              <a:t>Podemos ter uma lista onde os elementos são do mesmo tipo, como uma lista com apenas valores numéricos, ou uma lista mista, onde misturamos valores numéricos, </a:t>
            </a:r>
            <a:r>
              <a:rPr lang="pt-BR" i="1" dirty="0" err="1"/>
              <a:t>strings</a:t>
            </a:r>
            <a:r>
              <a:rPr lang="pt-BR" dirty="0"/>
              <a:t>, booleanos e até outras listas.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0922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C3C1F-0EDD-AC90-8C25-99E070B27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Tuplas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4E981E-108D-8A4E-23E3-2B7F80D4C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tuplas são coleções de elementos imutáveis. Isso significa que, a partir do momento que criamos uma tupla, não podemos alterar seus elementos.</a:t>
            </a:r>
          </a:p>
          <a:p>
            <a:r>
              <a:rPr lang="pt-BR" dirty="0"/>
              <a:t>A sintaxe é muito parecida com a das listas, mas, ao invés de utilizar colchetes, utilizamos parênteses. Elas também são flexíveis e podem conter vários tipos de dados.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0325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E8945-3483-8FED-CD28-78F670EA8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F80880-9F83-C760-36C4-BF437CBF7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tupla = (1, 2, 3)</a:t>
            </a:r>
          </a:p>
          <a:p>
            <a:endParaRPr lang="pt-BR" dirty="0"/>
          </a:p>
          <a:p>
            <a:r>
              <a:rPr lang="pt-BR" dirty="0" err="1"/>
              <a:t>tupla_mista</a:t>
            </a:r>
            <a:r>
              <a:rPr lang="pt-BR" dirty="0"/>
              <a:t> = (1, "texto", 3.14, False, [1, 2, 3])</a:t>
            </a:r>
          </a:p>
          <a:p>
            <a:endParaRPr lang="pt-BR" dirty="0"/>
          </a:p>
          <a:p>
            <a:r>
              <a:rPr lang="pt-BR" dirty="0"/>
              <a:t>Quando utilizamos essas coleções de elementos, queremos acessar seus itens. Temos uma série de operações comuns para isso.</a:t>
            </a:r>
          </a:p>
        </p:txBody>
      </p:sp>
    </p:spTree>
    <p:extLst>
      <p:ext uri="{BB962C8B-B14F-4D97-AF65-F5344CB8AC3E}">
        <p14:creationId xmlns:p14="http://schemas.microsoft.com/office/powerpoint/2010/main" val="2191027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68CF7-2485-BBA4-290D-0E52D7F72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Operações comuns: acesso por índice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BE9DC5-502A-95A5-F5A8-176CA44B6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primeira delas é o acesso por índice, que pode ser utilizado tanto em listas quanto em tuplas. Acessamos cada um dos elementos da nossa coleção através de um índice, que começa em zero e está dentro de colchetes.</a:t>
            </a:r>
          </a:p>
        </p:txBody>
      </p:sp>
    </p:spTree>
    <p:extLst>
      <p:ext uri="{BB962C8B-B14F-4D97-AF65-F5344CB8AC3E}">
        <p14:creationId xmlns:p14="http://schemas.microsoft.com/office/powerpoint/2010/main" val="1758260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502E4-BC07-089F-F7C8-E7BB37CFC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5EE5E6-D61F-3E9C-502A-74FE50F9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# Acessa o elemento na posição 1 da lista, que é 20.</a:t>
            </a:r>
          </a:p>
          <a:p>
            <a:pPr marL="0" indent="0">
              <a:buNone/>
            </a:pPr>
            <a:r>
              <a:rPr lang="pt-BR" dirty="0"/>
              <a:t>lista = [10, 20, 30]</a:t>
            </a:r>
          </a:p>
          <a:p>
            <a:pPr marL="0" indent="0">
              <a:buNone/>
            </a:pPr>
            <a:r>
              <a:rPr lang="pt-BR" dirty="0"/>
              <a:t>print(lista[1])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# Acessa o elemento na posição 1 da tupla, que é 42.</a:t>
            </a:r>
          </a:p>
          <a:p>
            <a:pPr marL="0" indent="0">
              <a:buNone/>
            </a:pPr>
            <a:r>
              <a:rPr lang="pt-BR" dirty="0"/>
              <a:t>tupla = (11, 42, 64)</a:t>
            </a:r>
          </a:p>
          <a:p>
            <a:pPr marL="0" indent="0">
              <a:buNone/>
            </a:pPr>
            <a:r>
              <a:rPr lang="pt-BR" dirty="0"/>
              <a:t>print(tupla[1])</a:t>
            </a:r>
          </a:p>
        </p:txBody>
      </p:sp>
    </p:spTree>
    <p:extLst>
      <p:ext uri="{BB962C8B-B14F-4D97-AF65-F5344CB8AC3E}">
        <p14:creationId xmlns:p14="http://schemas.microsoft.com/office/powerpoint/2010/main" val="4256566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DF563-66FF-43DA-1EC2-543A10F5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0A9622-7CB7-1D61-3973-C637C7B93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No código, temos uma lista com três elementos. O primeiro elemento está no índice zero, o segundo no índice 1 e o terceiro no índice 2. Na sequência, temos um print, onde chamamos a nossa lista e, entre colchetes, passamos o índice 1.</a:t>
            </a:r>
          </a:p>
          <a:p>
            <a:r>
              <a:rPr lang="pt-BR" dirty="0"/>
              <a:t>O print trará o elemento 20, que é o item nessa posição dentro da lista. O mesmo se aplica para as tuplas.</a:t>
            </a:r>
          </a:p>
          <a:p>
            <a:pPr marL="0" indent="0">
              <a:buNone/>
            </a:pPr>
            <a:r>
              <a:rPr lang="pt-BR" dirty="0"/>
              <a:t># Acessa o elemento na posição 1 da lista, que é 20.</a:t>
            </a:r>
          </a:p>
          <a:p>
            <a:pPr marL="0" indent="0">
              <a:buNone/>
            </a:pPr>
            <a:r>
              <a:rPr lang="pt-BR" dirty="0"/>
              <a:t>lista = [10, 20, 30]</a:t>
            </a:r>
          </a:p>
          <a:p>
            <a:pPr marL="0" indent="0">
              <a:buNone/>
            </a:pPr>
            <a:r>
              <a:rPr lang="pt-BR" dirty="0"/>
              <a:t>print(lista[1])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# Acessa o elemento na posição 1 da tupla, que é 42.</a:t>
            </a:r>
          </a:p>
          <a:p>
            <a:pPr marL="0" indent="0">
              <a:buNone/>
            </a:pPr>
            <a:r>
              <a:rPr lang="pt-BR" dirty="0"/>
              <a:t>tupla = (11, 42, 64)</a:t>
            </a:r>
          </a:p>
          <a:p>
            <a:pPr marL="0" indent="0">
              <a:buNone/>
            </a:pPr>
            <a:r>
              <a:rPr lang="pt-BR" dirty="0"/>
              <a:t>print(tupla[1])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9757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11537-8EF5-7FBB-805A-A658EE84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Operações comuns: </a:t>
            </a:r>
            <a:r>
              <a:rPr lang="pt-BR" b="1" i="1" dirty="0" err="1"/>
              <a:t>slicing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44A53E-79FE-7B20-6E8B-504FA6C7E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próxima operação comum é o </a:t>
            </a:r>
            <a:r>
              <a:rPr lang="pt-BR" i="1" dirty="0" err="1"/>
              <a:t>slicing</a:t>
            </a:r>
            <a:r>
              <a:rPr lang="pt-BR" dirty="0"/>
              <a:t>, que serve para extrair um pedaço da nossa lista ou tupla.</a:t>
            </a:r>
          </a:p>
          <a:p>
            <a:r>
              <a:rPr lang="pt-BR" dirty="0"/>
              <a:t>Criamos uma subestrutura parecida com a dos índices, mas especificamos um intervalo de índices.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097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5ED544-1A0B-A513-92D8-E58C9F292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4367D7-30F2-1CF7-B632-20BA7C969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dirty="0"/>
              <a:t>No código, temos uma lista com quatro elementos e chamamos um print com a nossa lista, fazendo o </a:t>
            </a:r>
            <a:r>
              <a:rPr lang="pt-BR" i="1" dirty="0" err="1"/>
              <a:t>slicing</a:t>
            </a:r>
            <a:r>
              <a:rPr lang="pt-BR" dirty="0"/>
              <a:t>, especificando que queremos extrair o pedaço que vai desde o índice 1 até o índice 3.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# Extrai os elementos do índice 1 até o 2 (não inclui o índice 3), resultando em [20, 30].</a:t>
            </a:r>
          </a:p>
          <a:p>
            <a:pPr marL="0" indent="0">
              <a:buNone/>
            </a:pPr>
            <a:r>
              <a:rPr lang="pt-BR" dirty="0"/>
              <a:t>lista = [10, 20, 30, 40]</a:t>
            </a:r>
          </a:p>
          <a:p>
            <a:pPr marL="0" indent="0">
              <a:buNone/>
            </a:pPr>
            <a:r>
              <a:rPr lang="pt-BR" dirty="0"/>
              <a:t>print(lista[1:3])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## Extrai os elementos do índice 1 até o 2 (não inclui o índice 3), resultando em [20, 30].</a:t>
            </a:r>
          </a:p>
          <a:p>
            <a:pPr marL="0" indent="0">
              <a:buNone/>
            </a:pPr>
            <a:r>
              <a:rPr lang="pt-BR" dirty="0"/>
              <a:t>tupla = (10, 20, 30, 40)</a:t>
            </a:r>
          </a:p>
          <a:p>
            <a:pPr marL="0" indent="0">
              <a:buNone/>
            </a:pPr>
            <a:r>
              <a:rPr lang="pt-BR" dirty="0"/>
              <a:t>print(tupla[1:3])</a:t>
            </a:r>
          </a:p>
          <a:p>
            <a:pPr marL="0" indent="0">
              <a:buNone/>
            </a:pPr>
            <a:r>
              <a:rPr lang="pt-BR" dirty="0"/>
              <a:t>É importante ressaltar que esse índice final, [1:3], não está incluso no que vamos extrair dessa lista. Quando chamamos esse </a:t>
            </a:r>
            <a:r>
              <a:rPr lang="pt-BR" i="1" dirty="0" err="1"/>
              <a:t>slicing</a:t>
            </a:r>
            <a:r>
              <a:rPr lang="pt-BR" dirty="0"/>
              <a:t>, teremos de saída uma lista que começa com o elemento 20, que está na posição 1, o elemento 30, que está na posição 2, e, quando chega na posição 3, não inclui e finaliza a operação. O mesmo se aplica para as tuplas.</a:t>
            </a:r>
          </a:p>
        </p:txBody>
      </p:sp>
    </p:spTree>
    <p:extLst>
      <p:ext uri="{BB962C8B-B14F-4D97-AF65-F5344CB8AC3E}">
        <p14:creationId xmlns:p14="http://schemas.microsoft.com/office/powerpoint/2010/main" val="591705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E14762-5F71-70B4-3469-EA200305A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Operações comuns: operador in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6E3B23-D953-F014-5A2D-B5CBDB7E2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Na sequência, temos o operador in, que serve para verificar se um elemento pertence a uma lista ou tupla. Ele retorna TRUE se o elemento fizer parte da coleção, e FALSE caso contrário.</a:t>
            </a:r>
          </a:p>
        </p:txBody>
      </p:sp>
    </p:spTree>
    <p:extLst>
      <p:ext uri="{BB962C8B-B14F-4D97-AF65-F5344CB8AC3E}">
        <p14:creationId xmlns:p14="http://schemas.microsoft.com/office/powerpoint/2010/main" val="2947909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109434-A186-E56C-F947-C17F15554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66FA38-81C6-D74B-D5AC-A2FA1F910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lista = [10, 20, 30]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print(20 in lista) # Verifica se 20 está presente na lista, retorna </a:t>
            </a:r>
            <a:r>
              <a:rPr lang="pt-BR" dirty="0" err="1"/>
              <a:t>True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print(40 in lista) # Verifica se 40 está presente na lista, retorna False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tupla = (10, 20, 30)</a:t>
            </a:r>
          </a:p>
          <a:p>
            <a:pPr marL="0" indent="0">
              <a:buNone/>
            </a:pPr>
            <a:r>
              <a:rPr lang="pt-BR" dirty="0"/>
              <a:t>print(20 in tupla) # Verifica se 20 está presente na tupla, retorna </a:t>
            </a:r>
            <a:r>
              <a:rPr lang="pt-BR" dirty="0" err="1"/>
              <a:t>True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print(40 in tupla) # Verifica se 40 está presente na tupla, retorna False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0051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CDA70-971A-D1E0-DB22-588F5B1A9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971A10-96D8-8CCC-2222-36A12C3C3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código, temos uma lista e chamamos dentro do print essa verificação. Verificamos 20 em lista, se o 20 faz parte da lista, e o print exibirá TRUE, porque o 20 faz parte da lista.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lista = [10, 20, 30]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print(20 in lista) # Verifica se 20 está presente na lista, retorna </a:t>
            </a:r>
            <a:r>
              <a:rPr lang="pt-BR" dirty="0" err="1"/>
              <a:t>True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print(40 in lista) # Verifica se 40 está presente na lista, retorna False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6969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23C84-A393-E935-E0EC-2F297A35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32989A-D88E-858B-4FBA-46C91A800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segundo print, quando verificamos se o 40 faz parte da lista, ele exibirá FALSE, porque o 40 não está na lista. O mesmo se aplica para as tuplas.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tupla = (10, 20, 30)</a:t>
            </a:r>
          </a:p>
          <a:p>
            <a:pPr marL="0" indent="0">
              <a:buNone/>
            </a:pPr>
            <a:r>
              <a:rPr lang="pt-BR" dirty="0"/>
              <a:t>print(20 in tupla) # Verifica se 20 está presente na tupla, retorna </a:t>
            </a:r>
            <a:r>
              <a:rPr lang="pt-BR" dirty="0" err="1"/>
              <a:t>True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print(40 in tupla) # Verifica se 40 está presente na tupla, retorna False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062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A1AD6-E0A1-F33E-7E3D-B12E7923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Manipulação de listas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A0681B-C65E-AC51-DB73-E157B9CD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Além dessas operações comuns para listas e tuplas, temos alguns métodos específicos para listas, já que seus elementos podem ser alterados.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F1A6D2B-2D36-7656-7096-E7A2E526E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89" y="2512193"/>
            <a:ext cx="10424160" cy="389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431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9497D-AD83-E352-2ECF-DC80B4657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C9948C-F007-0E93-7782-707BBE64B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primeiro método é o </a:t>
            </a:r>
            <a:r>
              <a:rPr lang="pt-BR" dirty="0" err="1">
                <a:solidFill>
                  <a:srgbClr val="FF0000"/>
                </a:solidFill>
              </a:rPr>
              <a:t>append</a:t>
            </a:r>
            <a:r>
              <a:rPr lang="pt-BR" dirty="0">
                <a:solidFill>
                  <a:srgbClr val="FF0000"/>
                </a:solidFill>
              </a:rPr>
              <a:t>()</a:t>
            </a:r>
            <a:r>
              <a:rPr lang="pt-BR" dirty="0"/>
              <a:t>, que adiciona um elemento no final da lista. No exemplo de código, temos uma lista com três elementos, chamamos a lista com o ponto </a:t>
            </a:r>
            <a:r>
              <a:rPr lang="pt-BR" dirty="0" err="1">
                <a:solidFill>
                  <a:srgbClr val="FF0000"/>
                </a:solidFill>
              </a:rPr>
              <a:t>append</a:t>
            </a:r>
            <a:r>
              <a:rPr lang="pt-BR" dirty="0">
                <a:solidFill>
                  <a:srgbClr val="FF0000"/>
                </a:solidFill>
              </a:rPr>
              <a:t>()</a:t>
            </a:r>
            <a:r>
              <a:rPr lang="pt-BR" dirty="0"/>
              <a:t> e o valor que queremos adicionar ao final da lista. Ao fim dessa operação, a lista conterá quatro elementos.</a:t>
            </a:r>
          </a:p>
        </p:txBody>
      </p:sp>
    </p:spTree>
    <p:extLst>
      <p:ext uri="{BB962C8B-B14F-4D97-AF65-F5344CB8AC3E}">
        <p14:creationId xmlns:p14="http://schemas.microsoft.com/office/powerpoint/2010/main" val="4254149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B66A2-CA9C-9DB8-22DD-92434F3FE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Temos também na tabela os seguintes métodos: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0C28AD-DC50-B9D7-C9E3-370BEEB1D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 err="1"/>
              <a:t>insert</a:t>
            </a:r>
            <a:r>
              <a:rPr lang="pt-BR" dirty="0"/>
              <a:t>(): insere um elemento em uma posição específica dentro da lista.</a:t>
            </a:r>
          </a:p>
          <a:p>
            <a:pPr lvl="0"/>
            <a:r>
              <a:rPr lang="pt-BR" dirty="0"/>
              <a:t>remove(): remove o primeiro elemento que encontrar com o valor especificado.</a:t>
            </a:r>
          </a:p>
          <a:p>
            <a:pPr lvl="0"/>
            <a:r>
              <a:rPr lang="pt-BR" dirty="0" err="1"/>
              <a:t>sort</a:t>
            </a:r>
            <a:r>
              <a:rPr lang="pt-BR" dirty="0"/>
              <a:t>(): ordena os elementos da lista em ordem crescente.</a:t>
            </a:r>
          </a:p>
          <a:p>
            <a:pPr lvl="0"/>
            <a:r>
              <a:rPr lang="pt-BR" dirty="0"/>
              <a:t>reverse(): reverte a ordem dos elementos da lista.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530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BED860-9126-573A-79A2-2AAFCFFE3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Método pop()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F0C495-7DF0-84E6-EA6B-06ACEC850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Além desses métodos, temos o método pop(), que, além de aplicar uma ação sobre a lista, retorna um valor.</a:t>
            </a:r>
          </a:p>
          <a:p>
            <a:pPr marL="0" indent="0">
              <a:buNone/>
            </a:pPr>
            <a:r>
              <a:rPr lang="pt-BR" dirty="0"/>
              <a:t>lista = [1, 2, 3]</a:t>
            </a:r>
          </a:p>
          <a:p>
            <a:pPr marL="0" indent="0">
              <a:buNone/>
            </a:pPr>
            <a:r>
              <a:rPr lang="pt-BR" dirty="0"/>
              <a:t>print(</a:t>
            </a:r>
            <a:r>
              <a:rPr lang="pt-BR" dirty="0" err="1"/>
              <a:t>lista.pop</a:t>
            </a:r>
            <a:r>
              <a:rPr lang="pt-BR" dirty="0"/>
              <a:t>(1))</a:t>
            </a:r>
          </a:p>
          <a:p>
            <a:pPr marL="0" indent="0">
              <a:buNone/>
            </a:pPr>
            <a:r>
              <a:rPr lang="pt-BR" dirty="0"/>
              <a:t>print(lista)</a:t>
            </a:r>
          </a:p>
          <a:p>
            <a:pPr marL="0" indent="0">
              <a:buNone/>
            </a:pPr>
            <a:r>
              <a:rPr lang="pt-BR" dirty="0"/>
              <a:t>No código, temos uma lista com três elementos e chamamos o pop() para a lista com o valor 1.</a:t>
            </a:r>
          </a:p>
          <a:p>
            <a:pPr marL="0" indent="0">
              <a:buNone/>
            </a:pPr>
            <a:r>
              <a:rPr lang="pt-BR" dirty="0"/>
              <a:t>Esse valor é o índice do elemento que queremos remover da lista. Ele procura o elemento com esse índice, que é o valor 2, remove esse elemento e o retorna. O print trará na tela o valor 2. Por fim, imprimimos a lista atualizada com os valores 1 e 3.</a:t>
            </a:r>
          </a:p>
        </p:txBody>
      </p:sp>
    </p:spTree>
    <p:extLst>
      <p:ext uri="{BB962C8B-B14F-4D97-AF65-F5344CB8AC3E}">
        <p14:creationId xmlns:p14="http://schemas.microsoft.com/office/powerpoint/2010/main" val="3024776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FF436-F390-BF2E-B68F-4EC3973C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Operações com tuplas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53E36A-53DD-1FDF-799F-E2D62E0D9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Vimos como manipular listas, vamos ver que tipo de operações podemos fazer com as tuplas.</a:t>
            </a:r>
          </a:p>
          <a:p>
            <a:r>
              <a:rPr lang="pt-BR" dirty="0"/>
              <a:t>Apesar das tuplas serem imutáveis, conseguimos criar novas tuplas a partir de tuplas existentes, através da concatenação de tuplas.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3102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2A1C3A-DCA0-8FAD-EBBD-7693569E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34023F-C1AA-59AF-824B-126E836EF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tupla1 = (1, 2)</a:t>
            </a:r>
          </a:p>
          <a:p>
            <a:pPr marL="0" indent="0">
              <a:buNone/>
            </a:pPr>
            <a:r>
              <a:rPr lang="pt-BR" dirty="0"/>
              <a:t>tupla2 = (3, 4)</a:t>
            </a:r>
          </a:p>
          <a:p>
            <a:pPr marL="0" indent="0">
              <a:buNone/>
            </a:pPr>
            <a:r>
              <a:rPr lang="pt-BR" dirty="0" err="1"/>
              <a:t>nova_tupla</a:t>
            </a:r>
            <a:r>
              <a:rPr lang="pt-BR" dirty="0"/>
              <a:t> = tupla1 + tupla2</a:t>
            </a:r>
          </a:p>
          <a:p>
            <a:pPr marL="0" indent="0">
              <a:buNone/>
            </a:pPr>
            <a:r>
              <a:rPr lang="pt-BR" dirty="0"/>
              <a:t># A tupla </a:t>
            </a:r>
            <a:r>
              <a:rPr lang="pt-BR" dirty="0" err="1"/>
              <a:t>nova_tupla</a:t>
            </a:r>
            <a:r>
              <a:rPr lang="pt-BR" dirty="0"/>
              <a:t> contém todos os elementos de tupla1 seguidos pelos elementos de tupla2, resultando em (1, 2, 3, 4).</a:t>
            </a:r>
          </a:p>
          <a:p>
            <a:pPr marL="0" indent="0">
              <a:buNone/>
            </a:pPr>
            <a:r>
              <a:rPr lang="pt-BR" dirty="0"/>
              <a:t>No código, temos a tupla 1, com os valores 1 e 2, e a tupla 2, com os valores 3 e 4. Criamos uma nova tupla através da concatenação da tupla 1 e da tupla 2, utilizando o operador +. Assim, a nova tupla resultará nos valores 1, 2, 3 e 4.</a:t>
            </a:r>
          </a:p>
        </p:txBody>
      </p:sp>
    </p:spTree>
    <p:extLst>
      <p:ext uri="{BB962C8B-B14F-4D97-AF65-F5344CB8AC3E}">
        <p14:creationId xmlns:p14="http://schemas.microsoft.com/office/powerpoint/2010/main" val="1272990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D0AF2-48AA-274E-623B-657AC3928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Iteração sobre elementos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28D153-B699-1BE6-4003-40CFD3085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Outra ação que podemos fazer tanto com tuplas quanto com listas é percorrer todos os elementos para verificar quais são.</a:t>
            </a:r>
          </a:p>
          <a:p>
            <a:r>
              <a:rPr lang="pt-BR" dirty="0"/>
              <a:t>Podemos iterar sobre esses itens utilizando laços de repetição, como </a:t>
            </a:r>
            <a:r>
              <a:rPr lang="pt-BR" dirty="0">
                <a:solidFill>
                  <a:srgbClr val="FF0000"/>
                </a:solidFill>
              </a:rPr>
              <a:t>laços for e </a:t>
            </a:r>
            <a:r>
              <a:rPr lang="pt-BR" dirty="0" err="1">
                <a:solidFill>
                  <a:srgbClr val="FF0000"/>
                </a:solidFill>
              </a:rPr>
              <a:t>while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2782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7FD152-37F3-5C88-184C-A0A7922BC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7EFEA0-8CFD-D5EA-D921-450EC205D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lista = [1, 2, 3, 4]</a:t>
            </a:r>
          </a:p>
          <a:p>
            <a:pPr marL="0" indent="0">
              <a:buNone/>
            </a:pPr>
            <a:r>
              <a:rPr lang="pt-BR" dirty="0"/>
              <a:t>for item in lista:</a:t>
            </a:r>
          </a:p>
          <a:p>
            <a:pPr marL="0" indent="0">
              <a:buNone/>
            </a:pPr>
            <a:r>
              <a:rPr lang="pt-BR" dirty="0"/>
              <a:t>    print(item)</a:t>
            </a:r>
          </a:p>
          <a:p>
            <a:pPr marL="0" indent="0">
              <a:buNone/>
            </a:pPr>
            <a:r>
              <a:rPr lang="pt-BR" dirty="0"/>
              <a:t>tupla = (1, 2, 3, 4)</a:t>
            </a:r>
          </a:p>
          <a:p>
            <a:pPr marL="0" indent="0">
              <a:buNone/>
            </a:pPr>
            <a:r>
              <a:rPr lang="pt-BR" dirty="0"/>
              <a:t>for item in tupla:</a:t>
            </a:r>
          </a:p>
          <a:p>
            <a:pPr marL="0" indent="0">
              <a:buNone/>
            </a:pPr>
            <a:r>
              <a:rPr lang="pt-BR" dirty="0"/>
              <a:t>    print(item)</a:t>
            </a:r>
          </a:p>
          <a:p>
            <a:pPr marL="0" indent="0">
              <a:buNone/>
            </a:pPr>
            <a:r>
              <a:rPr lang="pt-BR" dirty="0"/>
              <a:t>No código, temos uma lista com quatro elementos e chamamos um laço de repetição for, onde temos uma variável item, utilizamos o operador in e chamamos a lista. O laço percorrerá cada um dos elementos da lista e jogará esses valores para dentro da variável item. Dentro do laço, imprimimos o valor de cada um desses itens. Assim, conseguimos acessar todos os elementos de uma lista ou tupla um a um.</a:t>
            </a:r>
          </a:p>
        </p:txBody>
      </p:sp>
    </p:spTree>
    <p:extLst>
      <p:ext uri="{BB962C8B-B14F-4D97-AF65-F5344CB8AC3E}">
        <p14:creationId xmlns:p14="http://schemas.microsoft.com/office/powerpoint/2010/main" val="2728840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11B2A-557F-3A65-2682-523708158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Desempacotamento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317440-4707-A3FD-AA47-ED404133A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Também conseguimos pegar os valores de uma tupla ou lista e atribuir esses valores a variáveis específicas, uma variável para cada valor, e isso é chamado de desempacotamento.</a:t>
            </a:r>
          </a:p>
        </p:txBody>
      </p:sp>
    </p:spTree>
    <p:extLst>
      <p:ext uri="{BB962C8B-B14F-4D97-AF65-F5344CB8AC3E}">
        <p14:creationId xmlns:p14="http://schemas.microsoft.com/office/powerpoint/2010/main" val="15849024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19B6DD-C301-1391-941F-40E72242E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022F4A-5516-28E9-C468-508570325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tupla = (1, 2, 3)</a:t>
            </a:r>
          </a:p>
          <a:p>
            <a:pPr marL="0" indent="0">
              <a:buNone/>
            </a:pPr>
            <a:r>
              <a:rPr lang="pt-BR" dirty="0"/>
              <a:t># Desempacota a tupla em 3 variáveis: a, b, c.</a:t>
            </a:r>
          </a:p>
          <a:p>
            <a:pPr marL="0" indent="0">
              <a:buNone/>
            </a:pPr>
            <a:r>
              <a:rPr lang="pt-BR" dirty="0"/>
              <a:t>a, b, c = tupla</a:t>
            </a:r>
          </a:p>
          <a:p>
            <a:pPr marL="0" indent="0">
              <a:buNone/>
            </a:pPr>
            <a:r>
              <a:rPr lang="pt-BR" dirty="0"/>
              <a:t>print(a, b, c)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lista = [10, 20, 30]</a:t>
            </a:r>
          </a:p>
          <a:p>
            <a:pPr marL="0" indent="0">
              <a:buNone/>
            </a:pPr>
            <a:r>
              <a:rPr lang="pt-BR" dirty="0"/>
              <a:t># Desempacota a lista em 3 variáveis: x, y, z.</a:t>
            </a:r>
          </a:p>
          <a:p>
            <a:pPr marL="0" indent="0">
              <a:buNone/>
            </a:pPr>
            <a:r>
              <a:rPr lang="pt-BR" dirty="0"/>
              <a:t>x, y, z = lista</a:t>
            </a:r>
          </a:p>
          <a:p>
            <a:pPr marL="0" indent="0">
              <a:buNone/>
            </a:pPr>
            <a:r>
              <a:rPr lang="pt-BR" dirty="0"/>
              <a:t>print(x, y, z)</a:t>
            </a:r>
          </a:p>
        </p:txBody>
      </p:sp>
    </p:spTree>
    <p:extLst>
      <p:ext uri="{BB962C8B-B14F-4D97-AF65-F5344CB8AC3E}">
        <p14:creationId xmlns:p14="http://schemas.microsoft.com/office/powerpoint/2010/main" val="3200521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83BBC8-419F-3A9D-33DB-400939065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89BF1F-8D0C-7F2A-D523-31B306C2A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entender melhor, podemos verificar o código. Temos uma tupla com os valores 1, 2 e 3. Em seguida, criamos três variáveis: a, b e c, e atribuímos a tupla a essas variáveis. O código pegará cada um dos valores e os atribuirá às variáveis. Assim, a receberá o valor 1, b receberá o valor 2 e c o valor 3.</a:t>
            </a:r>
          </a:p>
          <a:p>
            <a:r>
              <a:rPr lang="pt-BR" dirty="0"/>
              <a:t>Por fim, imprimimos os valores dessas variáveis, e isso se aplica também para as listas.</a:t>
            </a:r>
          </a:p>
        </p:txBody>
      </p:sp>
    </p:spTree>
    <p:extLst>
      <p:ext uri="{BB962C8B-B14F-4D97-AF65-F5344CB8AC3E}">
        <p14:creationId xmlns:p14="http://schemas.microsoft.com/office/powerpoint/2010/main" val="24631997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37CEF-54B8-3E35-6EBC-6C82E4A59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Onde utilizar listas e tuplas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B4331F-787C-9871-7B98-BEBD4FB85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Agora, vamos entender onde podemos aplicar listas ou tuplas e qual é o momento ideal para utilizar cada uma dessas coleções.</a:t>
            </a:r>
          </a:p>
          <a:p>
            <a:r>
              <a:rPr lang="pt-BR" dirty="0"/>
              <a:t>No primeiro exemplo, queremos criar um código que guardará uma lista de tarefas para o dia.</a:t>
            </a:r>
          </a:p>
          <a:p>
            <a:r>
              <a:rPr lang="pt-BR" dirty="0"/>
              <a:t>Podemos adicionar itens, remover itens e, no final, imprimir a lista de tarefas atualizadas.</a:t>
            </a:r>
          </a:p>
          <a:p>
            <a:r>
              <a:rPr lang="pt-BR" dirty="0"/>
              <a:t>Como a lista tem itens que podemos alterar, queremos excluir algumas tarefas, adicionar novas tarefas, o ideal é utilizar uma lista.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41655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773057-A35F-9919-497B-BF62F58E6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4E92FB-713F-9BCD-77A6-58F38E13D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tarefas = ["Estudar Python", "Fazer compras", "Lavar a louça"]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 err="1"/>
              <a:t>tarefas.append</a:t>
            </a:r>
            <a:r>
              <a:rPr lang="pt-BR" dirty="0"/>
              <a:t>("Ler um livro")  # Adiciona "Ler um livro" à lista</a:t>
            </a:r>
          </a:p>
          <a:p>
            <a:pPr marL="0" indent="0">
              <a:buNone/>
            </a:pPr>
            <a:r>
              <a:rPr lang="pt-BR" dirty="0" err="1"/>
              <a:t>tarefas.remove</a:t>
            </a:r>
            <a:r>
              <a:rPr lang="pt-BR" dirty="0"/>
              <a:t>("Fazer compras")  # Remove "Fazer compras" da lista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for tarefa in tarefas:</a:t>
            </a:r>
          </a:p>
          <a:p>
            <a:pPr marL="0" indent="0">
              <a:buNone/>
            </a:pPr>
            <a:r>
              <a:rPr lang="pt-BR" dirty="0"/>
              <a:t>    print(tarefa)  # Exibe cada tarefa na lista</a:t>
            </a:r>
          </a:p>
        </p:txBody>
      </p:sp>
    </p:spTree>
    <p:extLst>
      <p:ext uri="{BB962C8B-B14F-4D97-AF65-F5344CB8AC3E}">
        <p14:creationId xmlns:p14="http://schemas.microsoft.com/office/powerpoint/2010/main" val="34575604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F8E117-4869-07BB-2E6A-04ACEE14C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7A1C52-B35C-10EC-0564-B25BADFB8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No código, criamos uma lista chamada tarefas, com as tarefas de estudar Python, fazer compras e lavar louça. Em seguida, adicionamos uma nova tarefa na lista, chamando o método </a:t>
            </a:r>
            <a:r>
              <a:rPr lang="pt-BR" dirty="0" err="1"/>
              <a:t>append</a:t>
            </a:r>
            <a:r>
              <a:rPr lang="pt-BR" dirty="0"/>
              <a:t>().</a:t>
            </a:r>
          </a:p>
          <a:p>
            <a:r>
              <a:rPr lang="pt-BR" dirty="0"/>
              <a:t>Em seguida, removemos a tarefa de fazer compras. Por fim, utilizamos um laço de repetição for para percorrer toda a lista, exibindo na tela as tarefas que ainda restam na lista.</a:t>
            </a:r>
          </a:p>
          <a:p>
            <a:r>
              <a:rPr lang="pt-BR" dirty="0"/>
              <a:t>Agora, temos um exemplo com tuplas.</a:t>
            </a:r>
          </a:p>
          <a:p>
            <a:r>
              <a:rPr lang="pt-BR" dirty="0"/>
              <a:t>Vamos criar um código onde armazenamos o nome de uma cidade e suas coordenadas de latitude e longitude. Em seguida, acessamos esses valores. Como o nome da cidade e as coordenadas são valores que não serão alterados, são fixos, o ideal é utilizar tuplas, por serem imutáveis.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57674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33947-60AF-2C98-B29B-8172A7725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9F7FD2-EE21-B02F-085A-74263B1AA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dirty="0"/>
              <a:t># Definição de tuplas com nome da cidade, latitude e longitude</a:t>
            </a:r>
          </a:p>
          <a:p>
            <a:pPr marL="0" indent="0">
              <a:buNone/>
            </a:pPr>
            <a:r>
              <a:rPr lang="pt-BR" dirty="0"/>
              <a:t>cidade1 = ("São Paulo", -23.5505, -46.6333)</a:t>
            </a:r>
          </a:p>
          <a:p>
            <a:pPr marL="0" indent="0">
              <a:buNone/>
            </a:pPr>
            <a:r>
              <a:rPr lang="pt-BR" dirty="0"/>
              <a:t>cidade2 = ("Rio de Janeiro", -22.9068, -43.1729)</a:t>
            </a:r>
          </a:p>
          <a:p>
            <a:pPr marL="0" indent="0">
              <a:buNone/>
            </a:pPr>
            <a:r>
              <a:rPr lang="pt-BR" dirty="0"/>
              <a:t>cidade3 = ("Brasília", -15.7801, -47.9292)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# Lista contendo as tuplas das cidades</a:t>
            </a:r>
          </a:p>
          <a:p>
            <a:pPr marL="0" indent="0">
              <a:buNone/>
            </a:pPr>
            <a:r>
              <a:rPr lang="pt-BR" dirty="0"/>
              <a:t>cidades = [cidade1, cidade2, cidade3]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# Percorre a lista de cidades e desempacota os valores</a:t>
            </a:r>
          </a:p>
          <a:p>
            <a:pPr marL="0" indent="0">
              <a:buNone/>
            </a:pPr>
            <a:r>
              <a:rPr lang="pt-BR" dirty="0"/>
              <a:t>for cidade in cidades:</a:t>
            </a:r>
          </a:p>
          <a:p>
            <a:pPr marL="0" indent="0">
              <a:buNone/>
            </a:pPr>
            <a:r>
              <a:rPr lang="pt-BR" dirty="0"/>
              <a:t>    nome, latitude, longitude = cidade  # Atribui cada valor da tupla às variáveis</a:t>
            </a:r>
          </a:p>
          <a:p>
            <a:pPr marL="0" indent="0">
              <a:buNone/>
            </a:pPr>
            <a:r>
              <a:rPr lang="pt-BR" dirty="0"/>
              <a:t>    print(</a:t>
            </a:r>
            <a:r>
              <a:rPr lang="pt-BR" dirty="0" err="1"/>
              <a:t>f"Cidade</a:t>
            </a:r>
            <a:r>
              <a:rPr lang="pt-BR" dirty="0"/>
              <a:t>: {nome}, Latitude: {latitude}, Longitude: {longitude}")  # Exibe as informações formatadas</a:t>
            </a:r>
          </a:p>
        </p:txBody>
      </p:sp>
    </p:spTree>
    <p:extLst>
      <p:ext uri="{BB962C8B-B14F-4D97-AF65-F5344CB8AC3E}">
        <p14:creationId xmlns:p14="http://schemas.microsoft.com/office/powerpoint/2010/main" val="5347913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A4E797-D6E6-2C10-A38A-2983ED3E7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A213E8-688F-AEFF-1362-69B3EC925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código, criamos três variáveis para as cidades: São Paulo, Rio de Janeiro e Brasília, com suas respectivas latitudes e longitudes. Em seguida, pegamos cada uma dessas tuplas criadas com as informações das cidades e criamos uma lista.</a:t>
            </a:r>
          </a:p>
          <a:p>
            <a:r>
              <a:rPr lang="pt-BR" dirty="0"/>
              <a:t>Por fim, temos um laço de repetição for que percorre essa lista e faz o desempacotamento dos valores das tuplas. Ele armazena as informações da cidade, o nome, a latitude e a longitude, dentro de variáveis.</a:t>
            </a:r>
          </a:p>
          <a:p>
            <a:r>
              <a:rPr lang="pt-BR"/>
              <a:t>Para concluir, </a:t>
            </a:r>
            <a:r>
              <a:rPr lang="pt-BR" dirty="0"/>
              <a:t>imprimimos esses valores na tela para cada uma das cidades.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01700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02924DCF-9540-5BC7-EBCF-4E194D12FDB1}"/>
              </a:ext>
            </a:extLst>
          </p:cNvPr>
          <p:cNvSpPr txBox="1"/>
          <p:nvPr/>
        </p:nvSpPr>
        <p:spPr>
          <a:xfrm>
            <a:off x="5169271" y="3013501"/>
            <a:ext cx="11689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48433347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769</TotalTime>
  <Words>2373</Words>
  <Application>Microsoft Office PowerPoint</Application>
  <PresentationFormat>Widescreen</PresentationFormat>
  <Paragraphs>151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Helvetica</vt:lpstr>
      <vt:lpstr>Verdana</vt:lpstr>
      <vt:lpstr>1_Tema do Office</vt:lpstr>
      <vt:lpstr>Design de Software II</vt:lpstr>
      <vt:lpstr>Listas e Tuplas</vt:lpstr>
      <vt:lpstr>Apresentação do PowerPoint</vt:lpstr>
      <vt:lpstr>Apresentação do PowerPoint</vt:lpstr>
      <vt:lpstr>Tuplas </vt:lpstr>
      <vt:lpstr>Apresentação do PowerPoint</vt:lpstr>
      <vt:lpstr>Operações comuns: acesso por índice </vt:lpstr>
      <vt:lpstr>Apresentação do PowerPoint</vt:lpstr>
      <vt:lpstr>Apresentação do PowerPoint</vt:lpstr>
      <vt:lpstr>Operações comuns: slicing </vt:lpstr>
      <vt:lpstr>Apresentação do PowerPoint</vt:lpstr>
      <vt:lpstr>Operações comuns: operador in </vt:lpstr>
      <vt:lpstr>Apresentação do PowerPoint</vt:lpstr>
      <vt:lpstr>Apresentação do PowerPoint</vt:lpstr>
      <vt:lpstr>Apresentação do PowerPoint</vt:lpstr>
      <vt:lpstr>Manipulação de listas </vt:lpstr>
      <vt:lpstr>Apresentação do PowerPoint</vt:lpstr>
      <vt:lpstr>Temos também na tabela os seguintes métodos:</vt:lpstr>
      <vt:lpstr>Método pop() </vt:lpstr>
      <vt:lpstr>Operações com tuplas </vt:lpstr>
      <vt:lpstr>Apresentação do PowerPoint</vt:lpstr>
      <vt:lpstr>Iteração sobre elementos </vt:lpstr>
      <vt:lpstr>Apresentação do PowerPoint</vt:lpstr>
      <vt:lpstr>Desempacotamento </vt:lpstr>
      <vt:lpstr>Apresentação do PowerPoint</vt:lpstr>
      <vt:lpstr>Apresentação do PowerPoint</vt:lpstr>
      <vt:lpstr>Onde utilizar listas e tuplas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senai</dc:creator>
  <cp:lastModifiedBy>Saulo Rodrigo Benatti</cp:lastModifiedBy>
  <cp:revision>493</cp:revision>
  <dcterms:created xsi:type="dcterms:W3CDTF">2024-07-03T23:15:04Z</dcterms:created>
  <dcterms:modified xsi:type="dcterms:W3CDTF">2026-10-05T21:21:34Z</dcterms:modified>
</cp:coreProperties>
</file>